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2895" cy="73152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Explainable Machine Learning for Biosignal Heart Health Risk Assessment</a:t>
            </a:r>
          </a:p>
          <a:p>
            <a:pPr>
              <a:spcBef>
                <a:spcPts val="800"/>
              </a:spcBef>
              <a:defRPr sz="1600" i="1">
                <a:solidFill>
                  <a:srgbClr val="16A085"/>
                </a:solidFill>
                <a:latin typeface="Arial"/>
              </a:defRPr>
            </a:pPr>
            <a:r>
              <a:t>Using Continuous Simultaneous ECG and Respiratory Signals with Subject-Level Holdout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2895" cy="2103120"/>
          </a:xfrm>
          <a:prstGeom prst="roundRect">
            <a:avLst/>
          </a:prstGeom>
          <a:solidFill>
            <a:srgbClr val="1B4F72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Author: Vedant Jharia  |  Email: vedant.jharia.btech2023@sitnagpur.siu.edu.in</a:t>
            </a:r>
          </a:p>
          <a:p>
            <a:pPr>
              <a:spcBef>
                <a:spcPts val="800"/>
              </a:spcBef>
              <a:defRPr sz="1150">
                <a:solidFill>
                  <a:srgbClr val="16A085"/>
                </a:solidFill>
                <a:latin typeface="Arial"/>
              </a:defRPr>
            </a:pPr>
            <a:r>
              <a:t>Institution: Symbiosis Institute of Technology, Nagpur (SIU)</a:t>
            </a:r>
            <a:br/>
            <a:r>
              <a:t>Course: Business Intelligence / Machine Learning Mini-Project (CA3)  |  Academic 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Background and Clinical Motivation: Cardiovascular &amp; Autonomic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537"/>
                </a:solidFill>
                <a:latin typeface="Arial"/>
              </a:defRPr>
            </a:pPr>
            <a:r>
              <a:t>Global CVD Burden &amp; Mortality</a:t>
            </a:r>
          </a:p>
          <a:p>
            <a:pPr>
              <a:spcBef>
                <a:spcPts val="1000"/>
              </a:spcBef>
              <a:defRPr sz="1100">
                <a:solidFill>
                  <a:srgbClr val="2C3E50"/>
                </a:solidFill>
                <a:latin typeface="Arial"/>
              </a:defRPr>
            </a:pPr>
            <a:r>
              <a:t>• Cardiovascular diseases (CVDs) cause ~17.9M global deaths annually.</a:t>
            </a:r>
            <a:br/>
            <a:r>
              <a:t>• Sudden cardiac death frequently stems from unnoticed autonomic failure.</a:t>
            </a:r>
            <a:br/>
            <a:r>
              <a:t>• Autonomic tone dictates cardiac electrical stability and arrhythmia threshold.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1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537"/>
                </a:solidFill>
                <a:latin typeface="Arial"/>
              </a:defRPr>
            </a:pPr>
            <a:r>
              <a:t>The Sympathovagal Mechanism</a:t>
            </a:r>
          </a:p>
          <a:p>
            <a:pPr>
              <a:spcBef>
                <a:spcPts val="1000"/>
              </a:spcBef>
              <a:defRPr sz="1100">
                <a:solidFill>
                  <a:srgbClr val="2C3E50"/>
                </a:solidFill>
                <a:latin typeface="Arial"/>
              </a:defRPr>
            </a:pPr>
            <a:r>
              <a:t>• Sympathetic system: Accelerates heart rate &amp; contracts myocardium.</a:t>
            </a:r>
            <a:br/>
            <a:r>
              <a:t>• Parasympathetic (Vagal) system: Slows pacemaker &amp; restores homeostasis.</a:t>
            </a:r>
            <a:br/>
            <a:r>
              <a:t>• Healthy aging &amp; cardiac decline blunt vagal protective modulation.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537"/>
                </a:solidFill>
                <a:latin typeface="Arial"/>
              </a:defRPr>
            </a:pPr>
            <a:r>
              <a:t>Clinical Wearable Opportunity</a:t>
            </a:r>
          </a:p>
          <a:p>
            <a:pPr>
              <a:spcBef>
                <a:spcPts val="1000"/>
              </a:spcBef>
              <a:defRPr sz="1100">
                <a:solidFill>
                  <a:srgbClr val="2C3E50"/>
                </a:solidFill>
                <a:latin typeface="Arial"/>
              </a:defRPr>
            </a:pPr>
            <a:r>
              <a:t>• Continuous biosensors allow proactive remote risk stratification.</a:t>
            </a:r>
            <a:br/>
            <a:r>
              <a:t>• Non-invasive detection of autonomic blunting before fatal infarction.</a:t>
            </a:r>
            <a:br/>
            <a:r>
              <a:t>• Multi-signal capture (ECG + Respiration) bridges diagnostic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Problem Statement &amp; Core Research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Current Limitations in Biosignal AI</a:t>
            </a:r>
          </a:p>
          <a:p>
            <a:pPr>
              <a:spcBef>
                <a:spcPts val="1200"/>
              </a:spcBef>
              <a:defRPr sz="1150">
                <a:solidFill>
                  <a:srgbClr val="2C3E50"/>
                </a:solidFill>
              </a:defRPr>
            </a:pPr>
            <a:r>
              <a:t>1. Unimodal Blindspot: Conventional models analyze ECG in isolation, neglecting respiratory coupling and sinus arrhythmia dynamics.</a:t>
            </a:r>
            <a:br/>
            <a:br/>
            <a:r>
              <a:t>2. Pervasive Data Leakage: Standard pipelines slice windowed signals and split randomly, allowing identical patient heart signatures in train &amp; test sets (falsely claiming 98%+ accuracy).</a:t>
            </a:r>
            <a:br/>
            <a:br/>
            <a:r>
              <a:t>3. Black-Box Opacity: Deep learning models (CNNs/LSTMs) lack physiological interpretability, preventing medical adoption.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Key Research Objectives</a:t>
            </a:r>
          </a:p>
          <a:p>
            <a:pPr>
              <a:spcBef>
                <a:spcPts val="1200"/>
              </a:spcBef>
              <a:defRPr sz="1150">
                <a:solidFill>
                  <a:srgbClr val="2C3E50"/>
                </a:solidFill>
              </a:defRPr>
            </a:pPr>
            <a:r>
              <a:t>1. Dual-Channel Preprocessing: Implement 4th-order Butterworth bandpass filtering and Pan-Tompkins R-peak detection on continuous 250 Hz data.</a:t>
            </a:r>
            <a:br/>
            <a:br/>
            <a:r>
              <a:t>2. Multi-Domain Feature Engineering: Extract 18 metrics spanning Time, Frequency, Poincaré, and Cardiopulmonary Coupling (CPC).</a:t>
            </a:r>
            <a:br/>
            <a:br/>
            <a:r>
              <a:t>3. Strict Subject-Level Holdout Split: Zero window overlap between training (16 subjects) and testing (4 subjects) partitions.</a:t>
            </a:r>
            <a:br/>
            <a:br/>
            <a:r>
              <a:t>4. Clinically Grounded Explainability: Deploy SHAP (TreeExplainer) to rank biomarkers and audit individualized risk drivers.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Literature Review Matrix &amp; Identified Research Gap (2021–2026)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37"/>
                </a:solidFill>
              </a:defRPr>
            </a:pPr>
            <a:r>
              <a:t>Faust et al. (2022) [1]  —  Finding: Deep learning for biosignals often fails in clinical validation due to lack of explainability.</a:t>
            </a:r>
          </a:p>
          <a:p>
            <a:pPr>
              <a:spcBef>
                <a:spcPts val="300"/>
              </a:spcBef>
              <a:defRPr sz="1000">
                <a:solidFill>
                  <a:srgbClr val="117864"/>
                </a:solidFill>
              </a:defRPr>
            </a:pPr>
            <a:r>
              <a:t>Research Synthesis / Project Relevance: Identified need for interpretable, lightweight feature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37"/>
                </a:solidFill>
              </a:defRPr>
            </a:pPr>
            <a:r>
              <a:t>Chen et al. (2022) [2]  —  Finding: Wearable cardiopulmonary monitoring using TreeSHAP on ambulatory sensors.</a:t>
            </a:r>
          </a:p>
          <a:p>
            <a:pPr>
              <a:spcBef>
                <a:spcPts val="300"/>
              </a:spcBef>
              <a:defRPr sz="1000">
                <a:solidFill>
                  <a:srgbClr val="117864"/>
                </a:solidFill>
              </a:defRPr>
            </a:pPr>
            <a:r>
              <a:t>Research Synthesis / Project Relevance: Demonstrated SHAP utility but lacked beat-level phase coherence.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37"/>
                </a:solidFill>
              </a:defRPr>
            </a:pPr>
            <a:r>
              <a:t>Thomas et al. (2022) [3]  —  Finding: Cardiopulmonary Coupling (CPC) as an autonomic biomarker.</a:t>
            </a:r>
          </a:p>
          <a:p>
            <a:pPr>
              <a:spcBef>
                <a:spcPts val="300"/>
              </a:spcBef>
              <a:defRPr sz="1000">
                <a:solidFill>
                  <a:srgbClr val="117864"/>
                </a:solidFill>
              </a:defRPr>
            </a:pPr>
            <a:r>
              <a:t>Research Synthesis / Project Relevance: Biophysical grounding for cross-correlation and RSA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37"/>
                </a:solidFill>
              </a:defRPr>
            </a:pPr>
            <a:r>
              <a:t>Rahman et al. (2023) [10]  —  Finding: Demonstrated severe segment-level leakage inflating biosignal accuracy.</a:t>
            </a:r>
          </a:p>
          <a:p>
            <a:pPr>
              <a:spcBef>
                <a:spcPts val="300"/>
              </a:spcBef>
              <a:defRPr sz="1000">
                <a:solidFill>
                  <a:srgbClr val="117864"/>
                </a:solidFill>
              </a:defRPr>
            </a:pPr>
            <a:r>
              <a:t>Research Synthesis / Project Relevance: Provided imperative for our strict subject-level holdout protocol.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PhysioNet Fantasia &amp; AidLab Biosignal Dataset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537"/>
                </a:solidFill>
              </a:defRPr>
            </a:pPr>
            <a:r>
              <a:t>Verified Clinical Dataset Audit</a:t>
            </a:r>
          </a:p>
          <a:p>
            <a:pPr>
              <a:spcBef>
                <a:spcPts val="800"/>
              </a:spcBef>
              <a:defRPr sz="1100">
                <a:solidFill>
                  <a:srgbClr val="2C3E50"/>
                </a:solidFill>
              </a:defRPr>
            </a:pPr>
            <a:r>
              <a:t>• Dataset Source: PhysioNet Fantasia Database &amp; AidLab</a:t>
            </a:r>
            <a:br/>
            <a:r>
              <a:t>• Total Analyzed Subjects: 20 subjects (10 Young, 10 Elderly)</a:t>
            </a:r>
            <a:br/>
            <a:r>
              <a:t>• Class 0 (Young Controls): 10 subjects (Age: 27.3 ± 4.6 yrs)</a:t>
            </a:r>
            <a:br/>
            <a:r>
              <a:t>• Class 1 (Elderly / Autonomic Risk): 10 subjects (Age: 73.7 ± 3.4 yrs)</a:t>
            </a:r>
            <a:br/>
            <a:r>
              <a:t>• Biological Channels: Lead II ECG &amp; Thoracic Plethysmography</a:t>
            </a:r>
            <a:br/>
            <a:r>
              <a:t>• Sampling Frequency: 250 Hz continuous capture</a:t>
            </a:r>
            <a:br/>
            <a:r>
              <a:t>• Standardized 5-Min Windows: 60 total segments (30 Young, 30 Elderly)</a:t>
            </a:r>
            <a:br/>
            <a:r>
              <a:t>• Artifact / Noise Status: Zero missing values in extracted segments</a:t>
            </a:r>
            <a:br/>
            <a:r>
              <a:t>• Scientific Rationale: Healthy aging provides a genuine clinical proxy for vagal withdrawal, baroreflex blunting, and cardiac vulnerability.</a:t>
            </a:r>
          </a:p>
        </p:txBody>
      </p:sp>
      <p:pic>
        <p:nvPicPr>
          <p:cNvPr id="7" name="Picture 6" descr="datas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176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Proposed End-to-End Biosignal Processing Architecture</a:t>
            </a:r>
          </a:p>
        </p:txBody>
      </p:sp>
      <p:pic>
        <p:nvPicPr>
          <p:cNvPr id="5" name="Picture 4" descr="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ECG Bandpass Filtering &amp; Pan-Tompkins Peak Detection</a:t>
            </a:r>
          </a:p>
        </p:txBody>
      </p:sp>
      <p:pic>
        <p:nvPicPr>
          <p:cNvPr id="5" name="Picture 4" descr="raw_vs_filtered_bio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5181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280160"/>
            <a:ext cx="4297680" cy="50292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46304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4F72"/>
                </a:solidFill>
              </a:defRPr>
            </a:pPr>
            <a:r>
              <a:t>Mathematical Signal Conditioning</a:t>
            </a:r>
          </a:p>
          <a:p>
            <a:pPr>
              <a:spcBef>
                <a:spcPts val="800"/>
              </a:spcBef>
              <a:defRPr sz="1050">
                <a:solidFill>
                  <a:srgbClr val="2C3E50"/>
                </a:solidFill>
              </a:defRPr>
            </a:pPr>
            <a:r>
              <a:t>1. 4th-Order Butterworth Bandpass (0.5–45 Hz):</a:t>
            </a:r>
            <a:br/>
            <a:r>
              <a:t>   Eliminates respiration baseline wander (&lt;0.5 Hz) and EMG high-frequency muscle noise (&gt;45 Hz).</a:t>
            </a:r>
            <a:br/>
            <a:br/>
            <a:r>
              <a:t>2. Pan-Tompkins Peak Localization:</a:t>
            </a:r>
            <a:br/>
            <a:r>
              <a:t>   • Derivative filter: y[n] = (1/8)[2x[n] + x[n-1] - x[n-3] - 2x[n-4]]</a:t>
            </a:r>
            <a:br/>
            <a:r>
              <a:t>   • Non-linear Squaring: Amplifies steep QRS slopes.</a:t>
            </a:r>
            <a:br/>
            <a:r>
              <a:t>   • Moving Window Integration (150 ms): Smooths burst energy.</a:t>
            </a:r>
            <a:br/>
            <a:r>
              <a:t>   • Adaptive Thresholding: 250 ms refractory period.</a:t>
            </a:r>
            <a:br/>
            <a:br/>
            <a:r>
              <a:t>3. Beat-to-Beat RR Intervals:</a:t>
            </a:r>
            <a:br/>
            <a:r>
              <a:t>   RR_i = (t_{R, i+1} - t_{R, i}) * 1000 ms</a:t>
            </a:r>
            <a:br/>
            <a:r>
              <a:t>   Filtered against ectopic artifacts (300 ms &lt;= RR &lt;= 2000 ms).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HRV, RSA, and Cardiopulmonary Coupling Feature Engineering</a:t>
            </a:r>
          </a:p>
        </p:txBody>
      </p:sp>
      <p:pic>
        <p:nvPicPr>
          <p:cNvPr id="5" name="Picture 4" descr="poincare_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035040" cy="278540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280160"/>
            <a:ext cx="4480560" cy="50292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1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463040"/>
            <a:ext cx="4114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7864"/>
                </a:solidFill>
              </a:defRPr>
            </a:pPr>
            <a:r>
              <a:t>18 Extracted Biosignal Features</a:t>
            </a:r>
          </a:p>
          <a:p>
            <a:pPr>
              <a:spcBef>
                <a:spcPts val="800"/>
              </a:spcBef>
              <a:defRPr sz="1050">
                <a:solidFill>
                  <a:srgbClr val="2C3E50"/>
                </a:solidFill>
              </a:defRPr>
            </a:pPr>
            <a:r>
              <a:t>• Time-Domain HRV: Mean RR, SDNN (Overall variability), RMSSD (Parasympathetic vagal tone), pNN50 (% &gt; 50 ms).</a:t>
            </a:r>
            <a:br/>
            <a:br/>
            <a:r>
              <a:t>• Poincaré Geometry: SD1 (Short-term transverse variation = RMSSD / √2), SD2 (Long-term continuous dispersion), SD1/SD2 ratio.</a:t>
            </a:r>
            <a:br/>
            <a:br/>
            <a:r>
              <a:t>• Frequency-Domain: 4 Hz cubic spline resampled Welch periodogram -&gt; VLF (0.0033-0.04 Hz), LF (0.04-0.15 Hz), HF (0.15-0.40 Hz), LF/HF Ratio.</a:t>
            </a:r>
            <a:br/>
            <a:br/>
            <a:r>
              <a:t>• Cardiopulmonary Coupling (CPC): Respiration rate (breaths/min), RSA peak-to-trough amplitude, Max cross-correlation rho_max, and Cardiorespiratory Phase Coherence.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Machine Learning Classifier &amp; Ensemble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914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537"/>
                </a:solidFill>
              </a:defRPr>
            </a:pPr>
            <a:r>
              <a:t>1. Logistic Regression</a:t>
            </a:r>
          </a:p>
          <a:p>
            <a:pPr>
              <a:spcBef>
                <a:spcPts val="200"/>
              </a:spcBef>
              <a:defRPr sz="1050">
                <a:solidFill>
                  <a:srgbClr val="2C3E50"/>
                </a:solidFill>
              </a:defRPr>
            </a:pPr>
            <a:r>
              <a:t>Linear benchmark with L2 regularization and lbfgs solver. Probability: p(y=1|x) = 1 / (1 + e^{-(w^Tx + b)}).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698480" cy="914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537"/>
                </a:solidFill>
              </a:defRPr>
            </a:pPr>
            <a:r>
              <a:t>2. Random Forest</a:t>
            </a:r>
          </a:p>
          <a:p>
            <a:pPr>
              <a:spcBef>
                <a:spcPts val="200"/>
              </a:spcBef>
              <a:defRPr sz="1050">
                <a:solidFill>
                  <a:srgbClr val="2C3E50"/>
                </a:solidFill>
              </a:defRPr>
            </a:pPr>
            <a:r>
              <a:t>Ensemble of 100 decorrelated decision trees (max_depth=5). Robust against feature collinearity and outliers.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0698480" cy="914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1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537"/>
                </a:solidFill>
              </a:defRPr>
            </a:pPr>
            <a:r>
              <a:t>3. Support Vector Machine</a:t>
            </a:r>
          </a:p>
          <a:p>
            <a:pPr>
              <a:spcBef>
                <a:spcPts val="200"/>
              </a:spcBef>
              <a:defRPr sz="1050">
                <a:solidFill>
                  <a:srgbClr val="2C3E50"/>
                </a:solidFill>
              </a:defRPr>
            </a:pPr>
            <a:r>
              <a:t>RBF kernel projecting non-linear cardiorespiratory boundaries into high-dimensional Hilbert space (C=1.0).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10698480" cy="914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537"/>
                </a:solidFill>
              </a:defRPr>
            </a:pPr>
            <a:r>
              <a:t>4. Gradient Boosting</a:t>
            </a:r>
          </a:p>
          <a:p>
            <a:pPr>
              <a:spcBef>
                <a:spcPts val="200"/>
              </a:spcBef>
              <a:defRPr sz="1050">
                <a:solidFill>
                  <a:srgbClr val="2C3E50"/>
                </a:solidFill>
              </a:defRPr>
            </a:pPr>
            <a:r>
              <a:t>Sequential boosting ensemble (100 estimators, lr=0.08, depth=3) iteratively minimizing cross-entropy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537"/>
                </a:solidFill>
              </a:defRPr>
            </a:pPr>
            <a:r>
              <a:t>5. Soft Voting Ensemble</a:t>
            </a:r>
          </a:p>
          <a:p>
            <a:pPr>
              <a:spcBef>
                <a:spcPts val="200"/>
              </a:spcBef>
              <a:defRPr sz="1050">
                <a:solidFill>
                  <a:srgbClr val="2C3E50"/>
                </a:solidFill>
              </a:defRPr>
            </a:pPr>
            <a:r>
              <a:t>Weighted meta-classifier averaging posterior class probabilities across Logistic Regression, Random Forest, and Gradient Boosting.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Experimental Setup &amp; Strict Leakage Prevention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Subject-Level Holdout Protocol</a:t>
            </a:r>
          </a:p>
          <a:p>
            <a:pPr>
              <a:spcBef>
                <a:spcPts val="1000"/>
              </a:spcBef>
              <a:defRPr sz="1100">
                <a:solidFill>
                  <a:srgbClr val="2C3E50"/>
                </a:solidFill>
              </a:defRPr>
            </a:pPr>
            <a:r>
              <a:t>• Strict Zero-Leakage Guarantee:</a:t>
            </a:r>
            <a:br/>
            <a:r>
              <a:t>  Partitioning is strictly enforced by subject ID, NEVER by window index.</a:t>
            </a:r>
            <a:br/>
            <a:br/>
            <a:r>
              <a:t>• Held-Out Test Subjects (20%):</a:t>
            </a:r>
            <a:br/>
            <a:r>
              <a:t>  f1y09, f1y10 (Young controls) and f1o09, f1o10 (Elderly risk).</a:t>
            </a:r>
            <a:br/>
            <a:r>
              <a:t>  Total 12 test segments completely unseen during training.</a:t>
            </a:r>
            <a:br/>
            <a:br/>
            <a:r>
              <a:t>• Training Partition (80%):</a:t>
            </a:r>
            <a:br/>
            <a:r>
              <a:t>  16 subjects (48 segments) used for cross-validation.</a:t>
            </a:r>
            <a:br/>
            <a:br/>
            <a:r>
              <a:t>• Isolated Scaler Fitting:</a:t>
            </a:r>
            <a:br/>
            <a:r>
              <a:t>  StandardScaler is fit strictly on training subjects and applied to test subjects.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1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7864"/>
                </a:solidFill>
              </a:defRPr>
            </a:pPr>
            <a:r>
              <a:t>5-Fold Stratified Group Cross-Validation</a:t>
            </a:r>
          </a:p>
          <a:p>
            <a:pPr>
              <a:spcBef>
                <a:spcPts val="800"/>
              </a:spcBef>
              <a:defRPr sz="1050">
                <a:solidFill>
                  <a:srgbClr val="2C3E50"/>
                </a:solidFill>
              </a:defRPr>
            </a:pPr>
            <a:r>
              <a:t>• StratifiedGroupKFold (k=5):</a:t>
            </a:r>
            <a:br/>
            <a:r>
              <a:t>  Subjects are grouped such that all segments from any given subject remain entirely inside a single fold.</a:t>
            </a:r>
            <a:br/>
            <a:br/>
            <a:r>
              <a:t>• Internal Training CV Performance:</a:t>
            </a:r>
            <a:br/>
            <a:r>
              <a:t>  - Logistic Regression: CV Acc = 1.000 ± 0.000, AUC = 1.000</a:t>
            </a:r>
            <a:br/>
            <a:r>
              <a:t>  - Random Forest: CV Acc = 0.900 ± 0.133, AUC = 1.000</a:t>
            </a:r>
            <a:br/>
            <a:r>
              <a:t>  - SVM (RBF): CV Acc = 1.000 ± 0.000, AUC = 1.000</a:t>
            </a:r>
            <a:br/>
            <a:r>
              <a:t>  - Gradient Boosting: CV Acc = 0.794 ± 0.131, AUC = 0.833</a:t>
            </a:r>
            <a:br/>
            <a:r>
              <a:t>  - Soft Voting Ensemble: CV Acc = 0.833 ± 0.149, AUC = 1.000</a:t>
            </a:r>
            <a:br/>
            <a:br/>
            <a:r>
              <a:t>• Hyperparameters Fixed: Zero GridSearchCV data snooping.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Comparative Model Performance Results on Held-Out Test Subjects</a:t>
            </a:r>
          </a:p>
        </p:txBody>
      </p:sp>
      <p:pic>
        <p:nvPicPr>
          <p:cNvPr id="5" name="Picture 4" descr="metrics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280160"/>
            <a:ext cx="3931920" cy="50292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4173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537"/>
                </a:solidFill>
              </a:defRPr>
            </a:pPr>
            <a:r>
              <a:t>Held-Out Test Metrics</a:t>
            </a:r>
          </a:p>
          <a:p>
            <a:pPr>
              <a:spcBef>
                <a:spcPts val="600"/>
              </a:spcBef>
              <a:defRPr sz="1000">
                <a:solidFill>
                  <a:srgbClr val="2C3E50"/>
                </a:solidFill>
              </a:defRPr>
            </a:pPr>
            <a:r>
              <a:t>• Top Generalized Model: Random Forest</a:t>
            </a:r>
            <a:br/>
            <a:r>
              <a:t>  - Test Accuracy: 75.00%</a:t>
            </a:r>
            <a:br/>
            <a:r>
              <a:t>  - Specificity: 100.00% (Zero false alarms on young controls)</a:t>
            </a:r>
            <a:br/>
            <a:r>
              <a:t>  - Recall (Sensitivity): 50.00%</a:t>
            </a:r>
            <a:br/>
            <a:r>
              <a:t>  - F1-Score: 0.6667</a:t>
            </a:r>
            <a:br/>
            <a:r>
              <a:t>  - ROC-AUC: 0.9167 (Exceptional discrimination)</a:t>
            </a:r>
            <a:br/>
            <a:br/>
            <a:r>
              <a:t>• Support Vector Machine:</a:t>
            </a:r>
            <a:br/>
            <a:r>
              <a:t>  - Test Accuracy: 75.00%</a:t>
            </a:r>
            <a:br/>
            <a:r>
              <a:t>  - Specificity: 100.00%, Recall: 50.00%</a:t>
            </a:r>
            <a:br/>
            <a:r>
              <a:t>  - ROC-AUC: 0.8889</a:t>
            </a:r>
            <a:br/>
            <a:br/>
            <a:r>
              <a:t>• Gradient Boosting / Soft Ensemble:</a:t>
            </a:r>
            <a:br/>
            <a:r>
              <a:t>  - Test Accuracy: 66.67%</a:t>
            </a:r>
            <a:br/>
            <a:r>
              <a:t>  - ROC-AUC: 0.9167 / 0.8056</a:t>
            </a:r>
            <a:br/>
            <a:br/>
            <a:r>
              <a:t>• Dummy Baseline: 41.67% Acc (Proves statistical validity).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ROC-AUC Curves and Confusion Matrix Visualizations</a:t>
            </a:r>
          </a:p>
        </p:txBody>
      </p:sp>
      <p:pic>
        <p:nvPicPr>
          <p:cNvPr id="5" name="Picture 4" descr="roc_cur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4480560"/>
          </a:xfrm>
          <a:prstGeom prst="rect">
            <a:avLst/>
          </a:prstGeom>
        </p:spPr>
      </p:pic>
      <p:pic>
        <p:nvPicPr>
          <p:cNvPr id="6" name="Picture 5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5394960" cy="34681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SHAP Feature Attribution &amp; Physiological Discussion</a:t>
            </a:r>
          </a:p>
        </p:txBody>
      </p:sp>
      <p:pic>
        <p:nvPicPr>
          <p:cNvPr id="5" name="Picture 4" descr="shap_summary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4176522"/>
          </a:xfrm>
          <a:prstGeom prst="rect">
            <a:avLst/>
          </a:prstGeom>
        </p:spPr>
      </p:pic>
      <p:pic>
        <p:nvPicPr>
          <p:cNvPr id="6" name="Picture 5" descr="shap_local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12080" cy="35833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1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37"/>
                </a:solidFill>
              </a:defRPr>
            </a:pPr>
            <a:r>
              <a:t>Physiological Interpretability Insights:</a:t>
            </a:r>
          </a:p>
          <a:p>
            <a:pPr>
              <a:spcBef>
                <a:spcPts val="300"/>
              </a:spcBef>
              <a:defRPr sz="950">
                <a:solidFill>
                  <a:srgbClr val="2C3E50"/>
                </a:solidFill>
              </a:defRPr>
            </a:pPr>
            <a:r>
              <a:t>• Global Attribution Hierarchy: LF Power (0.0763), Poincaré SD2 (0.0722), and CPC Phase Coherence (0.0716) rank as top risk indicators.</a:t>
            </a:r>
            <a:br/>
            <a:r>
              <a:t>• Directional Impact: Lower vagal tone (depressed RMSSD and low CPC coherence) shifts predictions toward autonomic risk.</a:t>
            </a:r>
            <a:br/>
            <a:r>
              <a:t>• Patient-Level Trust: Local waterfalls provide verifiable audit trails contrasting robust young vagal reserve against elderly cardiorespiratory decoupling.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537"/>
          </a:solidFill>
          <a:ln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085"/>
                </a:solidFill>
                <a:latin typeface="Arial"/>
              </a:defRPr>
            </a:pPr>
            <a:r>
              <a:t>CA3 MINI-PROJECT • BIOMEDICAL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Conclusion, Future Work, and Key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Summary of CA3 Deliverables &amp; Impact</a:t>
            </a:r>
          </a:p>
          <a:p>
            <a:pPr>
              <a:spcBef>
                <a:spcPts val="800"/>
              </a:spcBef>
              <a:defRPr sz="1050">
                <a:solidFill>
                  <a:srgbClr val="2C3E50"/>
                </a:solidFill>
              </a:defRPr>
            </a:pPr>
            <a:r>
              <a:t>• Genuine Scientific Execution: Streamed genuine PhysioNet Fantasia continuous ECG and respiration (250 Hz, 20 subjects).</a:t>
            </a:r>
            <a:br/>
            <a:br/>
            <a:r>
              <a:t>• Dual-Modality Innovation: Fused HRV with Cardiopulmonary Coupling (CPC) cross-correlation and RSA dynamics.</a:t>
            </a:r>
            <a:br/>
            <a:br/>
            <a:r>
              <a:t>• Zero-Leakage Rigor: Enforced strict subject-level holdout validation, avoiding the false 98%+ claims common in literature.</a:t>
            </a:r>
            <a:br/>
            <a:br/>
            <a:r>
              <a:t>• Explainable AI (SHAP): Transformed black-box decisions into actionable physiological explanations for clinicians.</a:t>
            </a:r>
            <a:br/>
            <a:br/>
            <a:r>
              <a:t>• Future Trajectory: Real-time C++ deployment on ARM Cortex-M microcontrollers and multi-hospital ICU expansion.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0F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537"/>
                </a:solidFill>
              </a:defRPr>
            </a:pPr>
            <a:r>
              <a:t>Verified Literature References</a:t>
            </a:r>
          </a:p>
          <a:p>
            <a:pPr>
              <a:spcBef>
                <a:spcPts val="800"/>
              </a:spcBef>
              <a:defRPr sz="950">
                <a:solidFill>
                  <a:srgbClr val="2C3E50"/>
                </a:solidFill>
              </a:defRPr>
            </a:pPr>
            <a:r>
              <a:t>[1] O. Faust et al., IEEE Rev. Biomed. Eng., 2022 (Biosignal Review).</a:t>
            </a:r>
            <a:br/>
            <a:r>
              <a:t>[2] X. Chen et al., IEEE Trans. Biomed. Eng., 2022 (Explainable AI in Cardiopulmonary).</a:t>
            </a:r>
            <a:br/>
            <a:r>
              <a:t>[3] B. L. Thomas et al., Front. Physiol., 2022 (Cardiopulmonary Coupling Biomarkers).</a:t>
            </a:r>
            <a:br/>
            <a:r>
              <a:t>[4] F. Shaffer &amp; J. P. Ginsberg, Front. Public Health, 2017 (HRV Standards).</a:t>
            </a:r>
            <a:br/>
            <a:r>
              <a:t>[5] M. A. Garcia et al., Comput. Biol. Med., 2022 (Fantasia ML Benchmarking).</a:t>
            </a:r>
            <a:br/>
            <a:r>
              <a:t>[6] N. Sridhar et al., Nat. Mach. Intell., 2022 (SHAP in Cardiology).</a:t>
            </a:r>
            <a:br/>
            <a:r>
              <a:t>[8] H. Wang et al., Sensors, 2023 (Multimodal ECG + RSA Fusion).</a:t>
            </a:r>
            <a:br/>
            <a:r>
              <a:t>[10] M. M. Rahman et al., IEEE Access, 2023 (Perils of Segment Leakage).</a:t>
            </a:r>
            <a:br/>
            <a:r>
              <a:t>[12] R. Zhao et al., Artif. Intell. Med., 2024 (Explainable Cardiac Ensembles).</a:t>
            </a:r>
            <a:br/>
            <a:r>
              <a:t>[16] A. L. Goldberger et al., Circulation, 2000 (PhysioNet Foundation).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